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D22159-DF31-4982-AAE5-9E6B4A041BB1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3B28D-6762-412E-8AC2-487C8D595E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2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30 </a:t>
            </a:r>
            <a:r>
              <a:rPr lang="zh-CN" altLang="en-US"/>
              <a:t>秒说清楚：旅行咨询被拆成阶段状态机，主控 </a:t>
            </a:r>
            <a:r>
              <a:rPr lang="en-US" altLang="zh-CN"/>
              <a:t>Agent </a:t>
            </a:r>
            <a:r>
              <a:rPr lang="zh-CN" altLang="en-US"/>
              <a:t>编排 </a:t>
            </a:r>
            <a:r>
              <a:rPr lang="en-US" altLang="zh-CN"/>
              <a:t>Router</a:t>
            </a:r>
            <a:r>
              <a:rPr lang="zh-CN" altLang="en-US"/>
              <a:t>、</a:t>
            </a:r>
            <a:r>
              <a:rPr lang="en-US" altLang="zh-CN"/>
              <a:t>Subagents</a:t>
            </a:r>
            <a:r>
              <a:rPr lang="zh-CN" altLang="en-US"/>
              <a:t>、</a:t>
            </a:r>
            <a:r>
              <a:rPr lang="en-US" altLang="zh-CN"/>
              <a:t>RAG</a:t>
            </a:r>
            <a:r>
              <a:rPr lang="zh-CN" altLang="en-US"/>
              <a:t>、</a:t>
            </a:r>
            <a:r>
              <a:rPr lang="en-US" altLang="zh-CN"/>
              <a:t>MCP </a:t>
            </a:r>
            <a:r>
              <a:rPr lang="zh-CN" altLang="en-US"/>
              <a:t>工具和结构化 </a:t>
            </a:r>
            <a:r>
              <a:rPr lang="en-US" altLang="zh-CN"/>
              <a:t>report_data</a:t>
            </a:r>
            <a:r>
              <a:rPr lang="zh-CN" altLang="en-US"/>
              <a:t>。强调不是普通 </a:t>
            </a:r>
            <a:r>
              <a:rPr lang="en-US" altLang="zh-CN"/>
              <a:t>RAG </a:t>
            </a:r>
            <a:r>
              <a:rPr lang="zh-CN" altLang="en-US"/>
              <a:t>问答。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994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不要只背技术栈。先讲业务身份，再讲为什么需要 </a:t>
            </a:r>
            <a:r>
              <a:rPr lang="en-US" altLang="zh-CN"/>
              <a:t>Agent</a:t>
            </a:r>
            <a:r>
              <a:rPr lang="zh-CN" altLang="en-US"/>
              <a:t>：旅行规划天然是多步骤、多状态、多工具、多边界的任务。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819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讲运行路径：前端发消息到 </a:t>
            </a:r>
            <a:r>
              <a:rPr lang="en-US" altLang="zh-CN"/>
              <a:t>FastAPI</a:t>
            </a:r>
            <a:r>
              <a:rPr lang="zh-CN" altLang="en-US"/>
              <a:t>，</a:t>
            </a:r>
            <a:r>
              <a:rPr lang="en-US" altLang="zh-CN"/>
              <a:t>API </a:t>
            </a:r>
            <a:r>
              <a:rPr lang="zh-CN" altLang="en-US"/>
              <a:t>先做轻量分流，复杂请求进入 </a:t>
            </a:r>
            <a:r>
              <a:rPr lang="en-US" altLang="zh-CN"/>
              <a:t>Travel Agent</a:t>
            </a:r>
            <a:r>
              <a:rPr lang="zh-CN" altLang="en-US"/>
              <a:t>；中间件按状态注入 </a:t>
            </a:r>
            <a:r>
              <a:rPr lang="en-US" altLang="zh-CN"/>
              <a:t>prompt </a:t>
            </a:r>
            <a:r>
              <a:rPr lang="zh-CN" altLang="en-US"/>
              <a:t>和 </a:t>
            </a:r>
            <a:r>
              <a:rPr lang="en-US" altLang="zh-CN"/>
              <a:t>tools</a:t>
            </a:r>
            <a:r>
              <a:rPr lang="zh-CN" altLang="en-US"/>
              <a:t>；工具通过 </a:t>
            </a:r>
            <a:r>
              <a:rPr lang="en-US" altLang="zh-CN"/>
              <a:t>Command(update) </a:t>
            </a:r>
            <a:r>
              <a:rPr lang="zh-CN" altLang="en-US"/>
              <a:t>改状态；最终 </a:t>
            </a:r>
            <a:r>
              <a:rPr lang="en-US" altLang="zh-CN"/>
              <a:t>SSE </a:t>
            </a:r>
            <a:r>
              <a:rPr lang="zh-CN" altLang="en-US"/>
              <a:t>推 </a:t>
            </a:r>
            <a:r>
              <a:rPr lang="en-US" altLang="zh-CN"/>
              <a:t>token</a:t>
            </a:r>
            <a:r>
              <a:rPr lang="zh-CN" altLang="en-US"/>
              <a:t>、</a:t>
            </a:r>
            <a:r>
              <a:rPr lang="en-US" altLang="zh-CN"/>
              <a:t>tool_call</a:t>
            </a:r>
            <a:r>
              <a:rPr lang="zh-CN" altLang="en-US"/>
              <a:t>、</a:t>
            </a:r>
            <a:r>
              <a:rPr lang="en-US" altLang="zh-CN"/>
              <a:t>report_data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772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面试官问 </a:t>
            </a:r>
            <a:r>
              <a:rPr lang="en-US" altLang="zh-CN"/>
              <a:t>Handoffs </a:t>
            </a:r>
            <a:r>
              <a:rPr lang="zh-CN" altLang="en-US"/>
              <a:t>与 </a:t>
            </a:r>
            <a:r>
              <a:rPr lang="en-US" altLang="zh-CN"/>
              <a:t>workflow</a:t>
            </a:r>
            <a:r>
              <a:rPr lang="zh-CN" altLang="en-US"/>
              <a:t>：</a:t>
            </a:r>
            <a:r>
              <a:rPr lang="en-US" altLang="zh-CN"/>
              <a:t>Handoffs </a:t>
            </a:r>
            <a:r>
              <a:rPr lang="zh-CN" altLang="en-US"/>
              <a:t>是阶段交接和能力切换方式；</a:t>
            </a:r>
            <a:r>
              <a:rPr lang="en-US" altLang="zh-CN"/>
              <a:t>workflow </a:t>
            </a:r>
            <a:r>
              <a:rPr lang="zh-CN" altLang="en-US"/>
              <a:t>是业务状态机。这个项目不是纯自由 </a:t>
            </a:r>
            <a:r>
              <a:rPr lang="en-US" altLang="zh-CN"/>
              <a:t>Agent</a:t>
            </a:r>
            <a:r>
              <a:rPr lang="zh-CN" altLang="en-US"/>
              <a:t>，而是 </a:t>
            </a:r>
            <a:r>
              <a:rPr lang="en-US" altLang="zh-CN"/>
              <a:t>workflow-controlled Agent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474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把中间件讲成控制面：不是业务都塞 </a:t>
            </a:r>
            <a:r>
              <a:rPr lang="en-US" altLang="zh-CN"/>
              <a:t>prompt</a:t>
            </a:r>
            <a:r>
              <a:rPr lang="zh-CN" altLang="en-US"/>
              <a:t>，而是每轮 </a:t>
            </a:r>
            <a:r>
              <a:rPr lang="en-US" altLang="zh-CN"/>
              <a:t>model call </a:t>
            </a:r>
            <a:r>
              <a:rPr lang="zh-CN" altLang="en-US"/>
              <a:t>前动态决定模型看见什么规则、状态、工具和记忆。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978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被追问 </a:t>
            </a:r>
            <a:r>
              <a:rPr lang="en-US" altLang="zh-CN"/>
              <a:t>RAG</a:t>
            </a:r>
            <a:r>
              <a:rPr lang="zh-CN" altLang="en-US"/>
              <a:t>：要讲父子切片、</a:t>
            </a:r>
            <a:r>
              <a:rPr lang="en-US" altLang="zh-CN"/>
              <a:t>Hybrid Retrieval</a:t>
            </a:r>
            <a:r>
              <a:rPr lang="zh-CN" altLang="en-US"/>
              <a:t>、</a:t>
            </a:r>
            <a:r>
              <a:rPr lang="en-US" altLang="zh-CN"/>
              <a:t>RRF</a:t>
            </a:r>
            <a:r>
              <a:rPr lang="zh-CN" altLang="en-US"/>
              <a:t>、</a:t>
            </a:r>
            <a:r>
              <a:rPr lang="en-US" altLang="zh-CN"/>
              <a:t>metadata-aware </a:t>
            </a:r>
            <a:r>
              <a:rPr lang="zh-CN" altLang="en-US"/>
              <a:t>的原因。弱点也要说：小型离线集不代表线上全量质量。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608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面试中不要把 </a:t>
            </a:r>
            <a:r>
              <a:rPr lang="en-US" altLang="zh-CN"/>
              <a:t>15 </a:t>
            </a:r>
            <a:r>
              <a:rPr lang="zh-CN" altLang="en-US"/>
              <a:t>条标注查询吹成线上质量。公平说法：这是开发期 </a:t>
            </a:r>
            <a:r>
              <a:rPr lang="en-US" altLang="zh-CN"/>
              <a:t>regression benchmark</a:t>
            </a:r>
            <a:r>
              <a:rPr lang="zh-CN" altLang="en-US"/>
              <a:t>，目标是证明关键文档可召回和改动不回退。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767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讲清楚什么时候压、压成什么样、为什么这么压。强调成本意识：不每轮 </a:t>
            </a:r>
            <a:r>
              <a:rPr lang="en-US" altLang="zh-CN"/>
              <a:t>LLM </a:t>
            </a:r>
            <a:r>
              <a:rPr lang="zh-CN" altLang="en-US"/>
              <a:t>摘要，默认确定性摘要，可配置 </a:t>
            </a:r>
            <a:r>
              <a:rPr lang="en-US" altLang="zh-CN"/>
              <a:t>LLM </a:t>
            </a:r>
            <a:r>
              <a:rPr lang="zh-CN" altLang="en-US"/>
              <a:t>摘要并回退。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863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区分 </a:t>
            </a:r>
            <a:r>
              <a:rPr lang="en-US" altLang="zh-CN"/>
              <a:t>tool call </a:t>
            </a:r>
            <a:r>
              <a:rPr lang="zh-CN" altLang="en-US"/>
              <a:t>和 </a:t>
            </a:r>
            <a:r>
              <a:rPr lang="en-US" altLang="zh-CN"/>
              <a:t>function call</a:t>
            </a:r>
            <a:r>
              <a:rPr lang="zh-CN" altLang="en-US"/>
              <a:t>：</a:t>
            </a:r>
            <a:r>
              <a:rPr lang="en-US" altLang="zh-CN"/>
              <a:t>function calling </a:t>
            </a:r>
            <a:r>
              <a:rPr lang="zh-CN" altLang="en-US"/>
              <a:t>是常见工具调用协议形态；</a:t>
            </a:r>
            <a:r>
              <a:rPr lang="en-US" altLang="zh-CN"/>
              <a:t>tool call </a:t>
            </a:r>
            <a:r>
              <a:rPr lang="zh-CN" altLang="en-US"/>
              <a:t>是更泛的工具调用事件。</a:t>
            </a:r>
            <a:r>
              <a:rPr lang="en-US" altLang="zh-CN"/>
              <a:t>MCP </a:t>
            </a:r>
            <a:r>
              <a:rPr lang="zh-CN" altLang="en-US"/>
              <a:t>与 </a:t>
            </a:r>
            <a:r>
              <a:rPr lang="en-US" altLang="zh-CN"/>
              <a:t>REST </a:t>
            </a:r>
            <a:r>
              <a:rPr lang="zh-CN" altLang="en-US"/>
              <a:t>的区别：服务发现、工具描述和连接管理更面向 </a:t>
            </a:r>
            <a:r>
              <a:rPr lang="en-US" altLang="zh-CN"/>
              <a:t>Agent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0815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如果问 </a:t>
            </a:r>
            <a:r>
              <a:rPr lang="en-US" altLang="zh-CN"/>
              <a:t>Thought </a:t>
            </a:r>
            <a:r>
              <a:rPr lang="zh-CN" altLang="en-US"/>
              <a:t>是否必要：面试回答可说项目更偏 </a:t>
            </a:r>
            <a:r>
              <a:rPr lang="en-US" altLang="zh-CN"/>
              <a:t>tool-use-only + </a:t>
            </a:r>
            <a:r>
              <a:rPr lang="zh-CN" altLang="en-US"/>
              <a:t>状态可解释，不要求暴露 </a:t>
            </a:r>
            <a:r>
              <a:rPr lang="en-US" altLang="zh-CN"/>
              <a:t>Thought</a:t>
            </a:r>
            <a:r>
              <a:rPr lang="zh-CN" altLang="en-US"/>
              <a:t>；需要可审计时记录工具和状态，不记录模型隐式思维。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200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讲分子分母：</a:t>
            </a:r>
            <a:r>
              <a:rPr lang="en-US" altLang="zh-CN"/>
              <a:t>9 </a:t>
            </a:r>
            <a:r>
              <a:rPr lang="zh-CN" altLang="en-US"/>
              <a:t>个核心验收场景全通过；工具调用精确率等指标来自场景期望工具和实际调用的匹配。强调工具失败多不是坏事，关键是全部可解释兜底。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465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展示时说：最终不是一段漂亮文本，而是结构化 </a:t>
            </a:r>
            <a:r>
              <a:rPr lang="en-US" altLang="zh-CN"/>
              <a:t>report_data</a:t>
            </a:r>
            <a:r>
              <a:rPr lang="zh-CN" altLang="en-US"/>
              <a:t>。前端、评估、导出都消费同一份数据。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5179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这页用于把系统从后端 </a:t>
            </a:r>
            <a:r>
              <a:rPr lang="en-US" altLang="zh-CN"/>
              <a:t>Agent </a:t>
            </a:r>
            <a:r>
              <a:rPr lang="zh-CN" altLang="en-US"/>
              <a:t>拉回到用户可见成果：地图化旅程、报告导出、治理边界。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6822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回答原则：先讲场景，再讲设计，再讲代码定位和验证，再讲边界。不要为了显得强而回避当前短板。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7195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结尾要稳：承认边界不扣分，反而说明你知道 </a:t>
            </a:r>
            <a:r>
              <a:rPr lang="en-US" altLang="zh-CN"/>
              <a:t>Agent </a:t>
            </a:r>
            <a:r>
              <a:rPr lang="zh-CN" altLang="en-US"/>
              <a:t>落地的风险。把个人贡献落在工程设计、调试和验收。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3B28D-6762-412E-8AC2-487C8D595E0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457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71A39-FD52-5579-918D-06D72013D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92E53B-FFEB-E82D-90DA-F7D6B2078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AC9D61-ABC8-8C94-A446-4D9B048C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E9F7E-9A15-7054-45E4-3EB1FB894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4BBDB-561A-CE34-E44E-1FEA2F61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12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753B12-09E8-6AE0-3A0F-B9457B9E7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7E7038-8246-5EE8-CC1C-0110B4B70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1C2EC-3DAC-8CEB-4064-91545F0AF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BCCDE8-B310-E221-EE12-1AC5B5E77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96BA3C-9856-32B3-FA3B-5C192EF6F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419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10EE48-EACE-F787-0B82-C0F6074AC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9661E0-D384-783E-609C-E2C3BB069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63E02C-E7FE-5969-CA80-2CAC91747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EFEE76-69F2-8F4B-3697-134C3420E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0E939D-F29A-CF25-388B-7C792EC3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17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4A2A28-9895-8CD5-CCDC-76E747240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30AC47-01D8-62B4-6BA4-D0EA53569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B7480C-8A4B-A1D3-002C-31102EF31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4537A1B-4364-2751-0E6E-990962518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03DD88-B382-FC41-D95A-6809E7B1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7525FF-BEA2-02E3-0F84-D3E44751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072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779923-CCEE-6CBD-212D-1195BBCB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DFB9A1-1E7D-1990-1197-FE70D6F39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0703AA-869F-B163-C221-FD31CE821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6EED533-FDF5-2D7F-926E-571825D70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7C4CB4B-F994-3D2F-0458-8A83680B04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ECA98C-A2D6-2934-6EE0-7890008CF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9A3DA4-81F4-5360-5B61-E99AF30CA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41E37C-3D59-6A63-468E-2C1B186D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434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8442DF-6841-53FC-A5D3-21D851762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8F4AD3-FE54-AE97-FF6C-CBCC1D7D5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A865967-E763-B8C6-54D3-3ACDDB2CF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F17061-721D-A1FA-EB1B-E67FCFB9C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54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EEEADB0-F15D-500D-9429-3485E93F7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619E9A-E0E7-25BB-7FC9-DA6580EA3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16BCD0-15B5-34D4-9F7C-1694957C9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02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B325A2-1274-45BD-711A-4621F3237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7C92C-1DCE-BB73-7A60-2AFC02A02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698F51-7834-0D52-5AD9-62D951929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847554-CD37-4041-C209-59EB786FA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1C787B-7F1E-ACE0-03FB-D40224A2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170BC2-7A98-17D3-48A7-A50E897A4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81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233E1D-3AF9-5C43-4613-9694BC847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696C5E-8236-2F86-ABE9-451BC61B56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3A9A6D-1928-6C3F-1289-55B9C0214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4B2D54-6755-097A-50E2-076F2BA7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7030E6-892E-C31B-EE4B-F6E7CB32D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353491-2314-7639-D822-33CEFF68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560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8B3AD-C618-3533-5D37-D65DC87FB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2A2F76-CC21-55AD-3BBB-E968A1A4A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EB6114-B7BF-E789-E6DB-AF4F08265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9DBA63-1B7B-20C7-BC00-B3E58146F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F21285-F757-F05C-BE39-7B6958A5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180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1AFAAE-5EC9-2EE8-51A7-0FAB969AA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17A9EA-69EC-9FDC-F07E-B89DEAEF7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AEFC8D-130F-5BDA-ED08-E281F68F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AC1C2A-A22E-6AEC-41CA-902127C2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785BD-E804-E345-C3C4-86A66921B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379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E08311-F631-1B9E-5544-5CAF371E7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C3B7E0-1E7D-9DA8-F59C-B606D4424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E4BDD3-7371-EA6E-4638-A05A1945A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E1C6D-B705-4AC0-8281-6348E20E4679}" type="datetimeFigureOut">
              <a:rPr lang="zh-CN" altLang="en-US" smtClean="0"/>
              <a:t>2026/5/21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6D1E60-9458-1800-740F-A239303F2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25F5E4-945D-7B24-70D7-386265C587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A52830-84BC-4039-A530-70A4228025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84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CA5351E-D5A4-0673-DDFE-C656AE42DB5E}"/>
              </a:ext>
            </a:extLst>
          </p:cNvPr>
          <p:cNvSpPr txBox="1"/>
          <p:nvPr/>
        </p:nvSpPr>
        <p:spPr>
          <a:xfrm>
            <a:off x="685800" y="787400"/>
            <a:ext cx="10414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知行：基于 </a:t>
            </a:r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LangGraph 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的旅行社智能顾问 </a:t>
            </a:r>
            <a:r>
              <a:rPr lang="en-US" altLang="zh-CN" sz="27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27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FE9218-FD33-B1BA-5924-811F8AD0338F}"/>
              </a:ext>
            </a:extLst>
          </p:cNvPr>
          <p:cNvSpPr txBox="1"/>
          <p:nvPr/>
        </p:nvSpPr>
        <p:spPr>
          <a:xfrm>
            <a:off x="711200" y="1473200"/>
            <a:ext cx="927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面试讲解提词版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|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架构、运行流程、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RAG/MCP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、上下文工程与验收成果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E826BA1-E284-1E2F-47D9-3F31EFE69BC2}"/>
              </a:ext>
            </a:extLst>
          </p:cNvPr>
          <p:cNvSpPr/>
          <p:nvPr/>
        </p:nvSpPr>
        <p:spPr>
          <a:xfrm>
            <a:off x="736600" y="2082800"/>
            <a:ext cx="2895600" cy="3175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altLang="zh-CN" sz="1000" b="1">
                <a:solidFill>
                  <a:srgbClr val="065F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LangGraph / LangChain</a:t>
            </a:r>
            <a:endParaRPr lang="zh-CN" altLang="en-US" sz="1000" b="1">
              <a:solidFill>
                <a:srgbClr val="065F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132107F-5561-A7F1-38F1-DB29783ED106}"/>
              </a:ext>
            </a:extLst>
          </p:cNvPr>
          <p:cNvSpPr/>
          <p:nvPr/>
        </p:nvSpPr>
        <p:spPr>
          <a:xfrm>
            <a:off x="3733800" y="2082800"/>
            <a:ext cx="1752600" cy="3175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altLang="zh-CN" sz="1000" b="1">
                <a:solidFill>
                  <a:srgbClr val="065F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+ Chroma</a:t>
            </a:r>
            <a:endParaRPr lang="zh-CN" altLang="en-US" sz="1000" b="1">
              <a:solidFill>
                <a:srgbClr val="065F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4F3DB72-EFE3-E7E1-431C-759118A7C5D8}"/>
              </a:ext>
            </a:extLst>
          </p:cNvPr>
          <p:cNvSpPr/>
          <p:nvPr/>
        </p:nvSpPr>
        <p:spPr>
          <a:xfrm>
            <a:off x="5461000" y="2082800"/>
            <a:ext cx="1879600" cy="3175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altLang="zh-CN" sz="1000" b="1">
                <a:solidFill>
                  <a:srgbClr val="065F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FastAPI + SSE</a:t>
            </a:r>
            <a:endParaRPr lang="zh-CN" altLang="en-US" sz="1000" b="1">
              <a:solidFill>
                <a:srgbClr val="065F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85D5656-A4EB-8B90-861E-221B9B6C42B2}"/>
              </a:ext>
            </a:extLst>
          </p:cNvPr>
          <p:cNvSpPr/>
          <p:nvPr/>
        </p:nvSpPr>
        <p:spPr>
          <a:xfrm>
            <a:off x="7315200" y="2082800"/>
            <a:ext cx="1371600" cy="3175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altLang="zh-CN" sz="1000" b="1">
                <a:solidFill>
                  <a:srgbClr val="065F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MCP Tools</a:t>
            </a:r>
            <a:endParaRPr lang="zh-CN" altLang="en-US" sz="1000" b="1">
              <a:solidFill>
                <a:srgbClr val="065F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0A98B75-FAD8-81D7-C2D7-A1D14BDFD549}"/>
              </a:ext>
            </a:extLst>
          </p:cNvPr>
          <p:cNvSpPr/>
          <p:nvPr/>
        </p:nvSpPr>
        <p:spPr>
          <a:xfrm>
            <a:off x="8813800" y="2082800"/>
            <a:ext cx="2514600" cy="317500"/>
          </a:xfrm>
          <a:prstGeom prst="roundRect">
            <a:avLst/>
          </a:prstGeom>
          <a:solidFill>
            <a:srgbClr val="ECFD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25400" rIns="101600" bIns="25400" rtlCol="0" anchor="ctr"/>
          <a:lstStyle/>
          <a:p>
            <a:pPr algn="ctr"/>
            <a:r>
              <a:rPr lang="en-US" altLang="zh-CN" sz="1000" b="1">
                <a:solidFill>
                  <a:srgbClr val="065F4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PostgreSQL / Redis</a:t>
            </a:r>
            <a:endParaRPr lang="zh-CN" altLang="en-US" sz="1000" b="1">
              <a:solidFill>
                <a:srgbClr val="065F4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5260EB2-79AA-47DA-6D9A-2A0D5B9D372E}"/>
              </a:ext>
            </a:extLst>
          </p:cNvPr>
          <p:cNvSpPr/>
          <p:nvPr/>
        </p:nvSpPr>
        <p:spPr>
          <a:xfrm>
            <a:off x="736600" y="3124200"/>
            <a:ext cx="2159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C0A139-F0B9-1D7B-4E7C-9F56E83D9C2D}"/>
              </a:ext>
            </a:extLst>
          </p:cNvPr>
          <p:cNvSpPr txBox="1"/>
          <p:nvPr/>
        </p:nvSpPr>
        <p:spPr>
          <a:xfrm>
            <a:off x="914400" y="3276600"/>
            <a:ext cx="1803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 / 9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936E14A-35C6-7FC4-FBFD-29EF335D41CE}"/>
              </a:ext>
            </a:extLst>
          </p:cNvPr>
          <p:cNvSpPr txBox="1"/>
          <p:nvPr/>
        </p:nvSpPr>
        <p:spPr>
          <a:xfrm>
            <a:off x="889000" y="3784600"/>
            <a:ext cx="1854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核心验收场景通过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73DBBC2-00CA-9AC6-7E9C-DEC816270BE7}"/>
              </a:ext>
            </a:extLst>
          </p:cNvPr>
          <p:cNvSpPr/>
          <p:nvPr/>
        </p:nvSpPr>
        <p:spPr>
          <a:xfrm>
            <a:off x="3124200" y="3124200"/>
            <a:ext cx="2159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4660C2-F2AE-4A3B-28C3-00637DE21E96}"/>
              </a:ext>
            </a:extLst>
          </p:cNvPr>
          <p:cNvSpPr txBox="1"/>
          <p:nvPr/>
        </p:nvSpPr>
        <p:spPr>
          <a:xfrm>
            <a:off x="3302000" y="3276600"/>
            <a:ext cx="1803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 / 19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C279AC9-689E-A02A-1FA7-274FDBDC5431}"/>
              </a:ext>
            </a:extLst>
          </p:cNvPr>
          <p:cNvSpPr txBox="1"/>
          <p:nvPr/>
        </p:nvSpPr>
        <p:spPr>
          <a:xfrm>
            <a:off x="3276600" y="3784600"/>
            <a:ext cx="1854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</a:t>
            </a:r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标注查询 </a:t>
            </a:r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文档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12245D6-5084-793C-0C11-9F3AAF8B2F1C}"/>
              </a:ext>
            </a:extLst>
          </p:cNvPr>
          <p:cNvSpPr/>
          <p:nvPr/>
        </p:nvSpPr>
        <p:spPr>
          <a:xfrm>
            <a:off x="5511800" y="3124200"/>
            <a:ext cx="2159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D09E7E5-CC12-195A-09EF-7FD0841A4440}"/>
              </a:ext>
            </a:extLst>
          </p:cNvPr>
          <p:cNvSpPr txBox="1"/>
          <p:nvPr/>
        </p:nvSpPr>
        <p:spPr>
          <a:xfrm>
            <a:off x="5689600" y="3276600"/>
            <a:ext cx="1803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100%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1CDB3BC-4EB9-EAD5-71ED-A804084206AA}"/>
              </a:ext>
            </a:extLst>
          </p:cNvPr>
          <p:cNvSpPr txBox="1"/>
          <p:nvPr/>
        </p:nvSpPr>
        <p:spPr>
          <a:xfrm>
            <a:off x="5664200" y="3784600"/>
            <a:ext cx="1854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Top-5 </a:t>
            </a:r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元数据增强召回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54AF152-D6E2-BB62-2945-00C523472F88}"/>
              </a:ext>
            </a:extLst>
          </p:cNvPr>
          <p:cNvSpPr/>
          <p:nvPr/>
        </p:nvSpPr>
        <p:spPr>
          <a:xfrm>
            <a:off x="7899400" y="3124200"/>
            <a:ext cx="2159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D6EBC0-4CF5-3940-005E-E93451D9AED0}"/>
              </a:ext>
            </a:extLst>
          </p:cNvPr>
          <p:cNvSpPr txBox="1"/>
          <p:nvPr/>
        </p:nvSpPr>
        <p:spPr>
          <a:xfrm>
            <a:off x="8077200" y="3276600"/>
            <a:ext cx="1803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08BC65-49DD-B31B-7354-5ED92D3CF304}"/>
              </a:ext>
            </a:extLst>
          </p:cNvPr>
          <p:cNvSpPr txBox="1"/>
          <p:nvPr/>
        </p:nvSpPr>
        <p:spPr>
          <a:xfrm>
            <a:off x="8051800" y="3784600"/>
            <a:ext cx="1854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无依据断言率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417B1E-7C0C-9EA7-8D6C-484476BB99CB}"/>
              </a:ext>
            </a:extLst>
          </p:cNvPr>
          <p:cNvSpPr txBox="1"/>
          <p:nvPr/>
        </p:nvSpPr>
        <p:spPr>
          <a:xfrm>
            <a:off x="736600" y="48514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开场口径：不是攻略问答页，而是把旅行顾问交付流程工程化的多智能体系统。</a:t>
            </a:r>
          </a:p>
        </p:txBody>
      </p:sp>
    </p:spTree>
    <p:extLst>
      <p:ext uri="{BB962C8B-B14F-4D97-AF65-F5344CB8AC3E}">
        <p14:creationId xmlns:p14="http://schemas.microsoft.com/office/powerpoint/2010/main" val="826232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52B2615-F809-F4E7-B6A4-6875FE698964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项目定位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0A2E47-AB20-DE58-65FD-82A0653B9C1D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一句话项目介绍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78D4F0-FF17-E075-9489-89F0FFECC0E6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A8A8A2C-51BC-A28D-D584-D80FA4611503}"/>
              </a:ext>
            </a:extLst>
          </p:cNvPr>
          <p:cNvSpPr/>
          <p:nvPr/>
        </p:nvSpPr>
        <p:spPr>
          <a:xfrm>
            <a:off x="711200" y="1676400"/>
            <a:ext cx="4953000" cy="30226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92CB08-157B-AE54-62C6-D1ABA460E9BB}"/>
              </a:ext>
            </a:extLst>
          </p:cNvPr>
          <p:cNvSpPr txBox="1"/>
          <p:nvPr/>
        </p:nvSpPr>
        <p:spPr>
          <a:xfrm>
            <a:off x="1041400" y="2006600"/>
            <a:ext cx="4241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业务目标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11C026-2CA8-B2CC-EA25-3384574CAD03}"/>
              </a:ext>
            </a:extLst>
          </p:cNvPr>
          <p:cNvSpPr txBox="1"/>
          <p:nvPr/>
        </p:nvSpPr>
        <p:spPr>
          <a:xfrm>
            <a:off x="1041400" y="2641600"/>
            <a:ext cx="4064000" cy="96436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持续对话收集旅行需求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分阶段生成可执行方案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给旅行社交付可核验报告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0C41DA8-79A3-C44E-1CF8-C15D25DC3D15}"/>
              </a:ext>
            </a:extLst>
          </p:cNvPr>
          <p:cNvSpPr/>
          <p:nvPr/>
        </p:nvSpPr>
        <p:spPr>
          <a:xfrm>
            <a:off x="6527800" y="1676400"/>
            <a:ext cx="4953000" cy="3022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EF3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6EF704-B4B9-F242-5C9D-C52E1CC30D8D}"/>
              </a:ext>
            </a:extLst>
          </p:cNvPr>
          <p:cNvSpPr txBox="1"/>
          <p:nvPr/>
        </p:nvSpPr>
        <p:spPr>
          <a:xfrm>
            <a:off x="6858000" y="2006600"/>
            <a:ext cx="419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>
                <a:solidFill>
                  <a:srgbClr val="92400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技术抓手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8C8BBAF-DB40-1049-3916-203A3D7E9C06}"/>
              </a:ext>
            </a:extLst>
          </p:cNvPr>
          <p:cNvSpPr txBox="1"/>
          <p:nvPr/>
        </p:nvSpPr>
        <p:spPr>
          <a:xfrm>
            <a:off x="6858000" y="2641600"/>
            <a:ext cx="4064000" cy="96436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LangGraph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管状态与阶段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提供业务证据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MCP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接外部实时能力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677126E-4C5A-8B46-24D7-26770116326C}"/>
              </a:ext>
            </a:extLst>
          </p:cNvPr>
          <p:cNvSpPr txBox="1"/>
          <p:nvPr/>
        </p:nvSpPr>
        <p:spPr>
          <a:xfrm>
            <a:off x="889000" y="5257800"/>
            <a:ext cx="1041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提词：我把它当 </a:t>
            </a:r>
            <a:r>
              <a:rPr lang="en-US" altLang="zh-CN" sz="16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6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工程做，重点是状态、工具边界、证据契约和可复跑验收。</a:t>
            </a:r>
          </a:p>
        </p:txBody>
      </p:sp>
    </p:spTree>
    <p:extLst>
      <p:ext uri="{BB962C8B-B14F-4D97-AF65-F5344CB8AC3E}">
        <p14:creationId xmlns:p14="http://schemas.microsoft.com/office/powerpoint/2010/main" val="2024992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7403BEF-1F31-1C72-47B4-02B13C2C6876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从入口到交付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B5604A-BBF3-3363-082F-C80B00585351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总体架构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5F5DB2-A119-EB67-F64F-14D9BFAB5F32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BEFECCB-FC51-67FC-DD2B-2A9F1D4F08D5}"/>
              </a:ext>
            </a:extLst>
          </p:cNvPr>
          <p:cNvSpPr/>
          <p:nvPr/>
        </p:nvSpPr>
        <p:spPr>
          <a:xfrm>
            <a:off x="711200" y="2006600"/>
            <a:ext cx="2032000" cy="1320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0EFF13-96A3-0A6F-5CD8-D0367FCF03E0}"/>
              </a:ext>
            </a:extLst>
          </p:cNvPr>
          <p:cNvSpPr txBox="1"/>
          <p:nvPr/>
        </p:nvSpPr>
        <p:spPr>
          <a:xfrm>
            <a:off x="889000" y="2235200"/>
            <a:ext cx="167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前端工作台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AA1419-88EE-FE5A-D0EA-D75C7F687036}"/>
              </a:ext>
            </a:extLst>
          </p:cNvPr>
          <p:cNvSpPr txBox="1"/>
          <p:nvPr/>
        </p:nvSpPr>
        <p:spPr>
          <a:xfrm>
            <a:off x="863600" y="2667000"/>
            <a:ext cx="1727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登录 </a:t>
            </a:r>
            <a:r>
              <a:rPr lang="en-US" altLang="zh-CN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会话 </a:t>
            </a:r>
            <a:r>
              <a:rPr lang="en-US" altLang="zh-CN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SSE / </a:t>
            </a:r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报告卡片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4A37709-1C18-1C6B-9BB7-AA8E5B75CA47}"/>
              </a:ext>
            </a:extLst>
          </p:cNvPr>
          <p:cNvSpPr/>
          <p:nvPr/>
        </p:nvSpPr>
        <p:spPr>
          <a:xfrm>
            <a:off x="3175000" y="2006600"/>
            <a:ext cx="2032000" cy="13208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E981BE-9CA4-D2DB-F3B3-EEEE6F10A441}"/>
              </a:ext>
            </a:extLst>
          </p:cNvPr>
          <p:cNvSpPr txBox="1"/>
          <p:nvPr/>
        </p:nvSpPr>
        <p:spPr>
          <a:xfrm>
            <a:off x="3352800" y="2235200"/>
            <a:ext cx="167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FastAPI API</a:t>
            </a:r>
            <a:endParaRPr lang="zh-CN" altLang="en-US" sz="1600" b="1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91A5846-713F-7E02-B684-250BD6EDF495}"/>
              </a:ext>
            </a:extLst>
          </p:cNvPr>
          <p:cNvSpPr txBox="1"/>
          <p:nvPr/>
        </p:nvSpPr>
        <p:spPr>
          <a:xfrm>
            <a:off x="3327400" y="2667000"/>
            <a:ext cx="1727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保存消息 </a:t>
            </a:r>
            <a:r>
              <a:rPr lang="en-US" altLang="zh-CN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快路径分流 </a:t>
            </a:r>
            <a:r>
              <a:rPr lang="en-US" altLang="zh-CN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流式输出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D7921EC-B1F5-89CD-B959-43072E9E0335}"/>
              </a:ext>
            </a:extLst>
          </p:cNvPr>
          <p:cNvSpPr/>
          <p:nvPr/>
        </p:nvSpPr>
        <p:spPr>
          <a:xfrm>
            <a:off x="5638800" y="2006600"/>
            <a:ext cx="2032000" cy="13208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E63506-F2E6-403C-4326-F3923C782994}"/>
              </a:ext>
            </a:extLst>
          </p:cNvPr>
          <p:cNvSpPr txBox="1"/>
          <p:nvPr/>
        </p:nvSpPr>
        <p:spPr>
          <a:xfrm>
            <a:off x="5816600" y="2235200"/>
            <a:ext cx="167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Travel Agent</a:t>
            </a:r>
            <a:endParaRPr lang="zh-CN" altLang="en-US" sz="1600" b="1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54F5A5F-8A31-3BD6-B812-6E9437E9C7CB}"/>
              </a:ext>
            </a:extLst>
          </p:cNvPr>
          <p:cNvSpPr txBox="1"/>
          <p:nvPr/>
        </p:nvSpPr>
        <p:spPr>
          <a:xfrm>
            <a:off x="5791200" y="2667000"/>
            <a:ext cx="1727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TravelState / Middleware / Tool-use</a:t>
            </a:r>
            <a:endParaRPr lang="zh-CN" altLang="en-US" sz="950">
              <a:solidFill>
                <a:srgbClr val="47556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307074D-224D-7B15-BAF9-CAAA2AF5DCE0}"/>
              </a:ext>
            </a:extLst>
          </p:cNvPr>
          <p:cNvSpPr/>
          <p:nvPr/>
        </p:nvSpPr>
        <p:spPr>
          <a:xfrm>
            <a:off x="8102600" y="2006600"/>
            <a:ext cx="2032000" cy="13208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C00A62C-B774-5354-CBDF-3171359EE18D}"/>
              </a:ext>
            </a:extLst>
          </p:cNvPr>
          <p:cNvSpPr txBox="1"/>
          <p:nvPr/>
        </p:nvSpPr>
        <p:spPr>
          <a:xfrm>
            <a:off x="8280400" y="2235200"/>
            <a:ext cx="167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工具与知识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8A95A3-1FF7-66DB-81BD-1ED1863E3C05}"/>
              </a:ext>
            </a:extLst>
          </p:cNvPr>
          <p:cNvSpPr txBox="1"/>
          <p:nvPr/>
        </p:nvSpPr>
        <p:spPr>
          <a:xfrm>
            <a:off x="8255000" y="2667000"/>
            <a:ext cx="1727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/ MCP / </a:t>
            </a:r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状态迁移 </a:t>
            </a:r>
            <a:r>
              <a:rPr lang="en-US" altLang="zh-CN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95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记忆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F37CECA-566B-B6BB-323E-5D1501B4FF5D}"/>
              </a:ext>
            </a:extLst>
          </p:cNvPr>
          <p:cNvCxnSpPr/>
          <p:nvPr/>
        </p:nvCxnSpPr>
        <p:spPr>
          <a:xfrm>
            <a:off x="2743200" y="2667000"/>
            <a:ext cx="3810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404FA64A-55E6-5999-8DC1-247A3D5B8636}"/>
              </a:ext>
            </a:extLst>
          </p:cNvPr>
          <p:cNvCxnSpPr/>
          <p:nvPr/>
        </p:nvCxnSpPr>
        <p:spPr>
          <a:xfrm>
            <a:off x="5207000" y="2667000"/>
            <a:ext cx="3810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2DF4B98-EDCD-8A07-63B9-2E1167536DF3}"/>
              </a:ext>
            </a:extLst>
          </p:cNvPr>
          <p:cNvCxnSpPr/>
          <p:nvPr/>
        </p:nvCxnSpPr>
        <p:spPr>
          <a:xfrm>
            <a:off x="7670800" y="2667000"/>
            <a:ext cx="3810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0317D9-B182-A0F5-E16E-D5A3E1457905}"/>
              </a:ext>
            </a:extLst>
          </p:cNvPr>
          <p:cNvSpPr/>
          <p:nvPr/>
        </p:nvSpPr>
        <p:spPr>
          <a:xfrm>
            <a:off x="1524000" y="4165600"/>
            <a:ext cx="9144000" cy="1168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ECC8CC-2D06-DAE0-EDAC-199113083A09}"/>
              </a:ext>
            </a:extLst>
          </p:cNvPr>
          <p:cNvSpPr txBox="1"/>
          <p:nvPr/>
        </p:nvSpPr>
        <p:spPr>
          <a:xfrm>
            <a:off x="1905000" y="4445000"/>
            <a:ext cx="838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数据层：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PostgreSQL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存用户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会话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消息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/Checkpoint/Store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Chroma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存 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向量，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Redis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承接运行态缓存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71A0D47-8621-9D8C-06A2-A2ABC4FAF6AF}"/>
              </a:ext>
            </a:extLst>
          </p:cNvPr>
          <p:cNvSpPr txBox="1"/>
          <p:nvPr/>
        </p:nvSpPr>
        <p:spPr>
          <a:xfrm>
            <a:off x="1905000" y="4851400"/>
            <a:ext cx="838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交付物：结构化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report_data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，前端、评估、导出共用同一份契约</a:t>
            </a:r>
          </a:p>
        </p:txBody>
      </p:sp>
    </p:spTree>
    <p:extLst>
      <p:ext uri="{BB962C8B-B14F-4D97-AF65-F5344CB8AC3E}">
        <p14:creationId xmlns:p14="http://schemas.microsoft.com/office/powerpoint/2010/main" val="2996628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9F54F40-CC42-F253-B588-791E9A8BAA38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/ Workflow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控制，</a:t>
            </a:r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609B62-EDC2-4031-AEFC-2D3530D4D785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运行流程：两条工作流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08F1EB-D369-98FB-72B5-20AE298860A5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E2A7AF4-A297-4583-93B2-D5DB66B6531A}"/>
              </a:ext>
            </a:extLst>
          </p:cNvPr>
          <p:cNvSpPr/>
          <p:nvPr/>
        </p:nvSpPr>
        <p:spPr>
          <a:xfrm>
            <a:off x="762000" y="1727200"/>
            <a:ext cx="4953000" cy="36195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C548E2-282D-9B4A-45AC-2CD7826FB265}"/>
              </a:ext>
            </a:extLst>
          </p:cNvPr>
          <p:cNvSpPr txBox="1"/>
          <p:nvPr/>
        </p:nvSpPr>
        <p:spPr>
          <a:xfrm>
            <a:off x="1117600" y="20320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个性化旅游规划 </a:t>
            </a:r>
            <a:r>
              <a:rPr lang="en-US" altLang="zh-CN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free_planning</a:t>
            </a:r>
            <a:endParaRPr lang="zh-CN" altLang="en-US" b="1">
              <a:solidFill>
                <a:srgbClr val="1D4ED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FD3F216-19CC-1768-0813-E2BFB83F8F1C}"/>
              </a:ext>
            </a:extLst>
          </p:cNvPr>
          <p:cNvSpPr txBox="1"/>
          <p:nvPr/>
        </p:nvSpPr>
        <p:spPr>
          <a:xfrm>
            <a:off x="1117600" y="2641600"/>
            <a:ext cx="3987800" cy="18338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需求收集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目的地推荐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交通 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住宿 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餐饮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行程生成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预算汇总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报告生成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517FE6D-44AF-D813-7249-1C6CF0392668}"/>
              </a:ext>
            </a:extLst>
          </p:cNvPr>
          <p:cNvSpPr/>
          <p:nvPr/>
        </p:nvSpPr>
        <p:spPr>
          <a:xfrm>
            <a:off x="6477000" y="1727200"/>
            <a:ext cx="4953000" cy="36195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EF0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4FCCD0-006A-E8D9-3D04-A12059B54C94}"/>
              </a:ext>
            </a:extLst>
          </p:cNvPr>
          <p:cNvSpPr txBox="1"/>
          <p:nvPr/>
        </p:nvSpPr>
        <p:spPr>
          <a:xfrm>
            <a:off x="6832600" y="2032000"/>
            <a:ext cx="406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A1620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省心方案 </a:t>
            </a:r>
            <a:r>
              <a:rPr lang="en-US" altLang="zh-CN" b="1">
                <a:solidFill>
                  <a:srgbClr val="A1620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agency_plan</a:t>
            </a:r>
            <a:endParaRPr lang="zh-CN" altLang="en-US" b="1">
              <a:solidFill>
                <a:srgbClr val="A1620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9B3CEA-88CF-372B-03E3-E5B4CCD5DA09}"/>
              </a:ext>
            </a:extLst>
          </p:cNvPr>
          <p:cNvSpPr txBox="1"/>
          <p:nvPr/>
        </p:nvSpPr>
        <p:spPr>
          <a:xfrm>
            <a:off x="6832600" y="2641600"/>
            <a:ext cx="3987800" cy="15132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基础事实确认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成熟产品 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SOP /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风险检索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方案草案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用户反馈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旅行社报告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6984C52-DA75-FBA4-361C-68FA7AE4BFE6}"/>
              </a:ext>
            </a:extLst>
          </p:cNvPr>
          <p:cNvSpPr txBox="1"/>
          <p:nvPr/>
        </p:nvSpPr>
        <p:spPr>
          <a:xfrm>
            <a:off x="1168400" y="5765800"/>
            <a:ext cx="965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提词：项目是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Workflow + Agent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的混合体；外层工作流保边界，阶段内部由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做工具选择和表达。</a:t>
            </a:r>
          </a:p>
        </p:txBody>
      </p:sp>
    </p:spTree>
    <p:extLst>
      <p:ext uri="{BB962C8B-B14F-4D97-AF65-F5344CB8AC3E}">
        <p14:creationId xmlns:p14="http://schemas.microsoft.com/office/powerpoint/2010/main" val="3773881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A4D6DA0-9BE2-3D10-9C20-FB5AC3A07263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为什么不乱调工具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95EBE4-2055-5B9F-5489-3C41BA7A8B77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控制面：</a:t>
            </a:r>
            <a:r>
              <a:rPr lang="en-US" altLang="zh-CN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StepConfigMiddleware</a:t>
            </a:r>
            <a:endParaRPr lang="zh-CN" altLang="en-US" sz="2800" b="1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DC54659-D595-B5A3-BFC9-CB87EAA2EDBE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E42A7B-517C-3090-DD0E-BCBC1595D80F}"/>
              </a:ext>
            </a:extLst>
          </p:cNvPr>
          <p:cNvSpPr txBox="1"/>
          <p:nvPr/>
        </p:nvSpPr>
        <p:spPr>
          <a:xfrm>
            <a:off x="889000" y="1701800"/>
            <a:ext cx="4889500" cy="15901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 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current_step / agency_step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注入阶段 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prompt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与工具白名单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注入长期偏好、摘要、证据包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日期门禁：无明确日期不查真实交通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酒店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省心方案默认屏蔽自由规划工具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999FBFB-A204-E973-4F45-808E062A3D75}"/>
              </a:ext>
            </a:extLst>
          </p:cNvPr>
          <p:cNvSpPr/>
          <p:nvPr/>
        </p:nvSpPr>
        <p:spPr>
          <a:xfrm>
            <a:off x="6604000" y="1778000"/>
            <a:ext cx="4191000" cy="3022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E6E4D9-1087-FA59-5EBD-124DB20EA75A}"/>
              </a:ext>
            </a:extLst>
          </p:cNvPr>
          <p:cNvSpPr txBox="1"/>
          <p:nvPr/>
        </p:nvSpPr>
        <p:spPr>
          <a:xfrm>
            <a:off x="6959600" y="2057400"/>
            <a:ext cx="349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可拆模块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CB43C16-9A47-6ECD-644E-3EA8C75B2A0F}"/>
              </a:ext>
            </a:extLst>
          </p:cNvPr>
          <p:cNvSpPr txBox="1"/>
          <p:nvPr/>
        </p:nvSpPr>
        <p:spPr>
          <a:xfrm>
            <a:off x="6959600" y="2616200"/>
            <a:ext cx="3302000" cy="125418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mode_policy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tool_policy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report_gate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memory_context</a:t>
            </a:r>
            <a:endParaRPr lang="zh-CN" altLang="en-US" sz="1600">
              <a:solidFill>
                <a:srgbClr val="1E293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86F907F-3994-BEFD-1DEF-9726F1C1881E}"/>
              </a:ext>
            </a:extLst>
          </p:cNvPr>
          <p:cNvSpPr txBox="1"/>
          <p:nvPr/>
        </p:nvSpPr>
        <p:spPr>
          <a:xfrm>
            <a:off x="1117600" y="5435600"/>
            <a:ext cx="990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提词：这块现在承担控制面，能讲清复杂度，也要承认后续该拆模块。</a:t>
            </a:r>
          </a:p>
        </p:txBody>
      </p:sp>
    </p:spTree>
    <p:extLst>
      <p:ext uri="{BB962C8B-B14F-4D97-AF65-F5344CB8AC3E}">
        <p14:creationId xmlns:p14="http://schemas.microsoft.com/office/powerpoint/2010/main" val="4265010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B6CFC8-0D13-4147-0E11-8AE09B364938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不是答案机，是业务证据层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64DA7B-001B-528D-D736-77535CB20AA1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</a:t>
            </a:r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E6D315-FECB-57F6-247E-040B931F9318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AAEAA6D-E467-EFE2-7FD2-557FED62EBD9}"/>
              </a:ext>
            </a:extLst>
          </p:cNvPr>
          <p:cNvSpPr/>
          <p:nvPr/>
        </p:nvSpPr>
        <p:spPr>
          <a:xfrm>
            <a:off x="711200" y="1625600"/>
            <a:ext cx="3048000" cy="36195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F13303-C17A-A901-0991-568F3233DFF8}"/>
              </a:ext>
            </a:extLst>
          </p:cNvPr>
          <p:cNvSpPr txBox="1"/>
          <p:nvPr/>
        </p:nvSpPr>
        <p:spPr>
          <a:xfrm>
            <a:off x="990600" y="1905000"/>
            <a:ext cx="241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知识来源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683B4E-23B8-B1BC-CBE6-DAE375B15CA4}"/>
              </a:ext>
            </a:extLst>
          </p:cNvPr>
          <p:cNvSpPr txBox="1"/>
          <p:nvPr/>
        </p:nvSpPr>
        <p:spPr>
          <a:xfrm>
            <a:off x="990600" y="2387600"/>
            <a:ext cx="2336800" cy="11310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公开目的地攻略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内部产品模板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SOP /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报价规则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风险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报告标准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D8AACC9-BC91-E348-6EC6-18F5A1E97DC7}"/>
              </a:ext>
            </a:extLst>
          </p:cNvPr>
          <p:cNvSpPr/>
          <p:nvPr/>
        </p:nvSpPr>
        <p:spPr>
          <a:xfrm>
            <a:off x="4572000" y="1625600"/>
            <a:ext cx="3048000" cy="36195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2913D9-9F2D-A240-F0B8-6016C9213E52}"/>
              </a:ext>
            </a:extLst>
          </p:cNvPr>
          <p:cNvSpPr txBox="1"/>
          <p:nvPr/>
        </p:nvSpPr>
        <p:spPr>
          <a:xfrm>
            <a:off x="4851400" y="1905000"/>
            <a:ext cx="241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检索链路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82C4A20-E3C9-6E0A-40F5-A43D91B80E2C}"/>
              </a:ext>
            </a:extLst>
          </p:cNvPr>
          <p:cNvSpPr txBox="1"/>
          <p:nvPr/>
        </p:nvSpPr>
        <p:spPr>
          <a:xfrm>
            <a:off x="4851400" y="2387600"/>
            <a:ext cx="2336800" cy="165173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query optimizer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BM25 + Dense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RRF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父子文档映射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重排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长上下文排序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缓存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DD75372-2EA2-06B1-F763-A2C2BB736EBF}"/>
              </a:ext>
            </a:extLst>
          </p:cNvPr>
          <p:cNvSpPr/>
          <p:nvPr/>
        </p:nvSpPr>
        <p:spPr>
          <a:xfrm>
            <a:off x="8432800" y="1625600"/>
            <a:ext cx="3048000" cy="36195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4F5B0D-3D1B-8979-6FB8-993CE4046658}"/>
              </a:ext>
            </a:extLst>
          </p:cNvPr>
          <p:cNvSpPr txBox="1"/>
          <p:nvPr/>
        </p:nvSpPr>
        <p:spPr>
          <a:xfrm>
            <a:off x="8712200" y="1905000"/>
            <a:ext cx="241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C2410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切片策略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CC1CD2-8E43-81A4-5A15-B6F5C1AE7C0A}"/>
              </a:ext>
            </a:extLst>
          </p:cNvPr>
          <p:cNvSpPr txBox="1"/>
          <p:nvPr/>
        </p:nvSpPr>
        <p:spPr>
          <a:xfrm>
            <a:off x="8712200" y="2387600"/>
            <a:ext cx="2336800" cy="13465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父块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1000 / overlap 200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子块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200 / overlap 50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先召回子块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再映射父块补上下文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8E195B-D7DD-CB11-B3BD-03CCC29EBC5B}"/>
              </a:ext>
            </a:extLst>
          </p:cNvPr>
          <p:cNvSpPr txBox="1"/>
          <p:nvPr/>
        </p:nvSpPr>
        <p:spPr>
          <a:xfrm>
            <a:off x="965200" y="5689600"/>
            <a:ext cx="1041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提词：召回优先用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Top-K + RRF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，精准靠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metadata filter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rerank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、父文档上下文和报告引用边界。</a:t>
            </a:r>
          </a:p>
        </p:txBody>
      </p:sp>
    </p:spTree>
    <p:extLst>
      <p:ext uri="{BB962C8B-B14F-4D97-AF65-F5344CB8AC3E}">
        <p14:creationId xmlns:p14="http://schemas.microsoft.com/office/powerpoint/2010/main" val="1282189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FAF116-C7FB-7846-740A-6AE86B38ABF8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小型离线召回证据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BA36A5-C55A-176E-DAA1-A3105A165EE6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</a:t>
            </a:r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评估成果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8F29D7-9A75-C144-1E1E-E4C0F92D536F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D65642B-F294-E4D3-F837-8C0920BC9ABD}"/>
              </a:ext>
            </a:extLst>
          </p:cNvPr>
          <p:cNvSpPr/>
          <p:nvPr/>
        </p:nvSpPr>
        <p:spPr>
          <a:xfrm>
            <a:off x="863600" y="1727200"/>
            <a:ext cx="2286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DF2A5A-D690-92FE-6EE5-00DF1AD37452}"/>
              </a:ext>
            </a:extLst>
          </p:cNvPr>
          <p:cNvSpPr txBox="1"/>
          <p:nvPr/>
        </p:nvSpPr>
        <p:spPr>
          <a:xfrm>
            <a:off x="1041400" y="1879600"/>
            <a:ext cx="193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44A702-9DDE-7CAF-88EE-7E02A4B02C5D}"/>
              </a:ext>
            </a:extLst>
          </p:cNvPr>
          <p:cNvSpPr txBox="1"/>
          <p:nvPr/>
        </p:nvSpPr>
        <p:spPr>
          <a:xfrm>
            <a:off x="1016000" y="2387600"/>
            <a:ext cx="198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标注查询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9B28CDA-5CF5-2CF6-15E9-3633DE83166F}"/>
              </a:ext>
            </a:extLst>
          </p:cNvPr>
          <p:cNvSpPr/>
          <p:nvPr/>
        </p:nvSpPr>
        <p:spPr>
          <a:xfrm>
            <a:off x="3429000" y="1727200"/>
            <a:ext cx="2286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E60881-DCE4-AFF7-C55B-C84C9F630134}"/>
              </a:ext>
            </a:extLst>
          </p:cNvPr>
          <p:cNvSpPr txBox="1"/>
          <p:nvPr/>
        </p:nvSpPr>
        <p:spPr>
          <a:xfrm>
            <a:off x="3606800" y="1879600"/>
            <a:ext cx="193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19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2D74D6-CAF0-7FC6-DA99-A6862172963C}"/>
              </a:ext>
            </a:extLst>
          </p:cNvPr>
          <p:cNvSpPr txBox="1"/>
          <p:nvPr/>
        </p:nvSpPr>
        <p:spPr>
          <a:xfrm>
            <a:off x="3581400" y="2387600"/>
            <a:ext cx="198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本地知识文档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4023E6F-C73D-9F0E-A5E4-969CF14BEB93}"/>
              </a:ext>
            </a:extLst>
          </p:cNvPr>
          <p:cNvSpPr/>
          <p:nvPr/>
        </p:nvSpPr>
        <p:spPr>
          <a:xfrm>
            <a:off x="5994400" y="1727200"/>
            <a:ext cx="2286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6D74676-67E1-D942-3492-DD3FD8573E0A}"/>
              </a:ext>
            </a:extLst>
          </p:cNvPr>
          <p:cNvSpPr txBox="1"/>
          <p:nvPr/>
        </p:nvSpPr>
        <p:spPr>
          <a:xfrm>
            <a:off x="6172200" y="1879600"/>
            <a:ext cx="193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100%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6774D5-BB8F-B4D7-5FF7-376941AB7DD9}"/>
              </a:ext>
            </a:extLst>
          </p:cNvPr>
          <p:cNvSpPr txBox="1"/>
          <p:nvPr/>
        </p:nvSpPr>
        <p:spPr>
          <a:xfrm>
            <a:off x="6146800" y="2387600"/>
            <a:ext cx="1981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metadata-aware Top-5 source/category/type recall</a:t>
            </a:r>
            <a:endParaRPr lang="zh-CN" altLang="en-US" sz="1000">
              <a:solidFill>
                <a:srgbClr val="33415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0CB49AB-3D99-34B8-08F2-E347BC56871B}"/>
              </a:ext>
            </a:extLst>
          </p:cNvPr>
          <p:cNvSpPr/>
          <p:nvPr/>
        </p:nvSpPr>
        <p:spPr>
          <a:xfrm>
            <a:off x="8559800" y="1727200"/>
            <a:ext cx="2286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6070405-1558-45BC-5376-691155D3125A}"/>
              </a:ext>
            </a:extLst>
          </p:cNvPr>
          <p:cNvSpPr txBox="1"/>
          <p:nvPr/>
        </p:nvSpPr>
        <p:spPr>
          <a:xfrm>
            <a:off x="8737600" y="1879600"/>
            <a:ext cx="1930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0.95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A1C149-03F0-1A1B-2488-ED9BA2B1B995}"/>
              </a:ext>
            </a:extLst>
          </p:cNvPr>
          <p:cNvSpPr txBox="1"/>
          <p:nvPr/>
        </p:nvSpPr>
        <p:spPr>
          <a:xfrm>
            <a:off x="8712200" y="2387600"/>
            <a:ext cx="1981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MRR</a:t>
            </a:r>
            <a:endParaRPr lang="zh-CN" altLang="en-US" sz="1000">
              <a:solidFill>
                <a:srgbClr val="33415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EB602D2-6A1D-48E0-BD60-588BE47CBA28}"/>
              </a:ext>
            </a:extLst>
          </p:cNvPr>
          <p:cNvSpPr/>
          <p:nvPr/>
        </p:nvSpPr>
        <p:spPr>
          <a:xfrm>
            <a:off x="1041400" y="3556000"/>
            <a:ext cx="10109200" cy="1447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86FC5DD-A0C4-6704-5F56-539993CD775A}"/>
              </a:ext>
            </a:extLst>
          </p:cNvPr>
          <p:cNvSpPr txBox="1"/>
          <p:nvPr/>
        </p:nvSpPr>
        <p:spPr>
          <a:xfrm>
            <a:off x="1397000" y="3835400"/>
            <a:ext cx="9398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对比口径：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 BM25 Top-5 source recall 90%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metadata-aware BM25 Top-5 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提升到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100%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EA79D29-EF45-5EBE-AA79-126118209C38}"/>
              </a:ext>
            </a:extLst>
          </p:cNvPr>
          <p:cNvSpPr txBox="1"/>
          <p:nvPr/>
        </p:nvSpPr>
        <p:spPr>
          <a:xfrm>
            <a:off x="1397000" y="4394200"/>
            <a:ext cx="939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边界：这只能证明产品样板和规则文档能被召回，下一步要接真实日志、扩标注集、做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badcase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归因。</a:t>
            </a:r>
          </a:p>
        </p:txBody>
      </p:sp>
    </p:spTree>
    <p:extLst>
      <p:ext uri="{BB962C8B-B14F-4D97-AF65-F5344CB8AC3E}">
        <p14:creationId xmlns:p14="http://schemas.microsoft.com/office/powerpoint/2010/main" val="3853770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6035314-B07D-CCBB-C65D-5EB4E2BAA589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超长对话怎么处理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CABBE4-B158-932F-FA7B-7A54642269D1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上下文工程与记忆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B79F48-1257-EF05-3409-C2EC5E20B6BE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599351A-128F-4703-5671-7D05701A759C}"/>
              </a:ext>
            </a:extLst>
          </p:cNvPr>
          <p:cNvSpPr/>
          <p:nvPr/>
        </p:nvSpPr>
        <p:spPr>
          <a:xfrm>
            <a:off x="736600" y="1625600"/>
            <a:ext cx="3302000" cy="3759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561A0A-B3E8-1140-D746-37321BADF1C8}"/>
              </a:ext>
            </a:extLst>
          </p:cNvPr>
          <p:cNvSpPr txBox="1"/>
          <p:nvPr/>
        </p:nvSpPr>
        <p:spPr>
          <a:xfrm>
            <a:off x="1066800" y="19304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触发条件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6E4683-3791-7D56-E530-459247737492}"/>
              </a:ext>
            </a:extLst>
          </p:cNvPr>
          <p:cNvSpPr txBox="1"/>
          <p:nvPr/>
        </p:nvSpPr>
        <p:spPr>
          <a:xfrm>
            <a:off x="1066800" y="2413000"/>
            <a:ext cx="2514600" cy="10413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阶段切换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消息数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 18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最近消息估算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&gt; 2800 tokens</a:t>
            </a:r>
            <a:endParaRPr lang="zh-CN" altLang="en-US" sz="1400">
              <a:solidFill>
                <a:srgbClr val="1E293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AD94125-F56D-4F06-4948-7E116E4FC2DE}"/>
              </a:ext>
            </a:extLst>
          </p:cNvPr>
          <p:cNvSpPr/>
          <p:nvPr/>
        </p:nvSpPr>
        <p:spPr>
          <a:xfrm>
            <a:off x="4445000" y="1625600"/>
            <a:ext cx="3302000" cy="3759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2E0C5A-FC43-1730-CA3A-B0D304D5CBC7}"/>
              </a:ext>
            </a:extLst>
          </p:cNvPr>
          <p:cNvSpPr txBox="1"/>
          <p:nvPr/>
        </p:nvSpPr>
        <p:spPr>
          <a:xfrm>
            <a:off x="4775200" y="19304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压缩形态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C277ED-F71B-3FFB-4045-21658E766D5F}"/>
              </a:ext>
            </a:extLst>
          </p:cNvPr>
          <p:cNvSpPr txBox="1"/>
          <p:nvPr/>
        </p:nvSpPr>
        <p:spPr>
          <a:xfrm>
            <a:off x="4775200" y="2413000"/>
            <a:ext cx="2514600" cy="11310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会话摘要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900 tokens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关键历史轮次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700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保留最近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个人类轮次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最终报告阶段收窄到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轮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E1BB602-0A01-6720-D16D-2AE5AE73AE64}"/>
              </a:ext>
            </a:extLst>
          </p:cNvPr>
          <p:cNvSpPr/>
          <p:nvPr/>
        </p:nvSpPr>
        <p:spPr>
          <a:xfrm>
            <a:off x="8153400" y="1625600"/>
            <a:ext cx="3302000" cy="37592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8B44586-B00F-2387-8B5D-874DDAA7C812}"/>
              </a:ext>
            </a:extLst>
          </p:cNvPr>
          <p:cNvSpPr txBox="1"/>
          <p:nvPr/>
        </p:nvSpPr>
        <p:spPr>
          <a:xfrm>
            <a:off x="8483600" y="1930400"/>
            <a:ext cx="254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>
                <a:solidFill>
                  <a:srgbClr val="C2410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记忆分层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FC07E5-C96E-D3EA-B70D-0357DCA57EA9}"/>
              </a:ext>
            </a:extLst>
          </p:cNvPr>
          <p:cNvSpPr txBox="1"/>
          <p:nvPr/>
        </p:nvSpPr>
        <p:spPr>
          <a:xfrm>
            <a:off x="8483600" y="2413000"/>
            <a:ext cx="2514600" cy="10413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短期状态：本轮需求和选择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长期记忆：稳定偏好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历史旅行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证据包：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RAG/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工具依据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981DD71-7893-84C9-DFFB-B8E7CD2579B5}"/>
              </a:ext>
            </a:extLst>
          </p:cNvPr>
          <p:cNvSpPr txBox="1"/>
          <p:nvPr/>
        </p:nvSpPr>
        <p:spPr>
          <a:xfrm>
            <a:off x="990600" y="5791200"/>
            <a:ext cx="10223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提词：不是简单截断；是摘要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最近窗口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关键轮次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状态摘要 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长期记忆的分层注入。</a:t>
            </a:r>
          </a:p>
        </p:txBody>
      </p:sp>
    </p:spTree>
    <p:extLst>
      <p:ext uri="{BB962C8B-B14F-4D97-AF65-F5344CB8AC3E}">
        <p14:creationId xmlns:p14="http://schemas.microsoft.com/office/powerpoint/2010/main" val="3673757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F244B8-5A93-F045-7EA1-CCA5F5CE9A39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工具层怎么治理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D5C502-0D54-B77F-F04D-3792317B70A5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工具调用、</a:t>
            </a:r>
            <a:r>
              <a:rPr lang="en-US" altLang="zh-CN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Function Calling </a:t>
            </a:r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MCP</a:t>
            </a:r>
            <a:endParaRPr lang="zh-CN" altLang="en-US" sz="2800" b="1">
              <a:solidFill>
                <a:srgbClr val="0F172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844C86-22B1-C782-3901-4A1B139CB4D4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215D7E-2D7F-E57D-0723-34ADF56027B9}"/>
              </a:ext>
            </a:extLst>
          </p:cNvPr>
          <p:cNvSpPr txBox="1"/>
          <p:nvPr/>
        </p:nvSpPr>
        <p:spPr>
          <a:xfrm>
            <a:off x="812800" y="1651000"/>
            <a:ext cx="4978400" cy="125418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Function Calling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：模型按 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schema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产出 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tool_call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schema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决定参数边界、枚举、必填项和描述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MCP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：把外部服务动态暴露成标准工具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工具结果统一进入审计、兜底、待核验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FB6333A-6138-B63C-9824-D088FF0CBB0B}"/>
              </a:ext>
            </a:extLst>
          </p:cNvPr>
          <p:cNvSpPr/>
          <p:nvPr/>
        </p:nvSpPr>
        <p:spPr>
          <a:xfrm>
            <a:off x="6604000" y="1701800"/>
            <a:ext cx="4292600" cy="2794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C9575F-3AEA-6FC2-4EC7-5F19CB3C8C91}"/>
              </a:ext>
            </a:extLst>
          </p:cNvPr>
          <p:cNvSpPr txBox="1"/>
          <p:nvPr/>
        </p:nvSpPr>
        <p:spPr>
          <a:xfrm>
            <a:off x="6959600" y="20066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失败处理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BE974E-F01B-62B0-46AC-22DA9B674B32}"/>
              </a:ext>
            </a:extLst>
          </p:cNvPr>
          <p:cNvSpPr txBox="1"/>
          <p:nvPr/>
        </p:nvSpPr>
        <p:spPr>
          <a:xfrm>
            <a:off x="6959600" y="2565400"/>
            <a:ext cx="3302000" cy="119263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参数不足：追问或补齐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上游异常：降级，不编造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重复调用：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middleware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去重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最终报告：写入待核验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523E0A1-03AA-8C7F-4FAC-F2DF739BE21F}"/>
              </a:ext>
            </a:extLst>
          </p:cNvPr>
          <p:cNvSpPr txBox="1"/>
          <p:nvPr/>
        </p:nvSpPr>
        <p:spPr>
          <a:xfrm>
            <a:off x="1092200" y="5486400"/>
            <a:ext cx="1003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提词：</a:t>
            </a:r>
            <a:r>
              <a:rPr lang="en-US" altLang="zh-CN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schema </a:t>
            </a:r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不是越细越好，稳定字段细化，高熵自由文本保留描述；失败后靠校验、兜底和报告边界闭环。</a:t>
            </a:r>
          </a:p>
        </p:txBody>
      </p:sp>
    </p:spTree>
    <p:extLst>
      <p:ext uri="{BB962C8B-B14F-4D97-AF65-F5344CB8AC3E}">
        <p14:creationId xmlns:p14="http://schemas.microsoft.com/office/powerpoint/2010/main" val="1651230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04E75BB-96D0-7795-65DF-5F45290FEDAB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每一轮上下文怎么变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D1010F-C967-82FE-170E-4B87E9DEE193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ReAct / Tool-use </a:t>
            </a:r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在项目中的体现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ECD055-EA5B-E37A-9311-55E0A6165E94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69A3B68-E558-32BB-1CDC-6AF1EF5B2F6D}"/>
              </a:ext>
            </a:extLst>
          </p:cNvPr>
          <p:cNvSpPr/>
          <p:nvPr/>
        </p:nvSpPr>
        <p:spPr>
          <a:xfrm>
            <a:off x="812800" y="1905000"/>
            <a:ext cx="2082800" cy="1651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840513-3944-593D-EF8A-9A9D51DC52EB}"/>
              </a:ext>
            </a:extLst>
          </p:cNvPr>
          <p:cNvSpPr txBox="1"/>
          <p:nvPr/>
        </p:nvSpPr>
        <p:spPr>
          <a:xfrm>
            <a:off x="990600" y="2133600"/>
            <a:ext cx="1727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Model Call</a:t>
            </a:r>
            <a:endParaRPr lang="zh-CN" altLang="en-US" sz="1500" b="1">
              <a:solidFill>
                <a:srgbClr val="1D4ED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8D4B35-9345-C885-D9F4-2DF0254CD7CD}"/>
              </a:ext>
            </a:extLst>
          </p:cNvPr>
          <p:cNvSpPr txBox="1"/>
          <p:nvPr/>
        </p:nvSpPr>
        <p:spPr>
          <a:xfrm>
            <a:off x="990600" y="2590800"/>
            <a:ext cx="1727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prompt +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最近消息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状态摘要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工具列表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1EAB601-9B8C-E413-01D5-8E69E4E64E07}"/>
              </a:ext>
            </a:extLst>
          </p:cNvPr>
          <p:cNvSpPr/>
          <p:nvPr/>
        </p:nvSpPr>
        <p:spPr>
          <a:xfrm>
            <a:off x="3606800" y="1905000"/>
            <a:ext cx="2082800" cy="1651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8B71FB-AB9C-B950-936B-C0C0789928EC}"/>
              </a:ext>
            </a:extLst>
          </p:cNvPr>
          <p:cNvSpPr txBox="1"/>
          <p:nvPr/>
        </p:nvSpPr>
        <p:spPr>
          <a:xfrm>
            <a:off x="3784600" y="2133600"/>
            <a:ext cx="1727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Tool Call</a:t>
            </a:r>
            <a:endParaRPr lang="zh-CN" altLang="en-US" sz="1500" b="1">
              <a:solidFill>
                <a:srgbClr val="1D4ED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AD2175A-E71D-3224-62E0-5B88F3CEA2F1}"/>
              </a:ext>
            </a:extLst>
          </p:cNvPr>
          <p:cNvSpPr txBox="1"/>
          <p:nvPr/>
        </p:nvSpPr>
        <p:spPr>
          <a:xfrm>
            <a:off x="3784600" y="2590800"/>
            <a:ext cx="1727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模型选择工具并填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schema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EEDE33C-AC6B-F06F-39D1-182D17174B2B}"/>
              </a:ext>
            </a:extLst>
          </p:cNvPr>
          <p:cNvSpPr/>
          <p:nvPr/>
        </p:nvSpPr>
        <p:spPr>
          <a:xfrm>
            <a:off x="6400800" y="1905000"/>
            <a:ext cx="2082800" cy="1651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539AEB-1539-AF31-C0A5-00A8769FCC57}"/>
              </a:ext>
            </a:extLst>
          </p:cNvPr>
          <p:cNvSpPr txBox="1"/>
          <p:nvPr/>
        </p:nvSpPr>
        <p:spPr>
          <a:xfrm>
            <a:off x="6578600" y="2133600"/>
            <a:ext cx="1727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Tool Result</a:t>
            </a:r>
            <a:endParaRPr lang="zh-CN" altLang="en-US" sz="1500" b="1">
              <a:solidFill>
                <a:srgbClr val="1D4ED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9615D0E-40C8-2B95-9DD9-B00610100B23}"/>
              </a:ext>
            </a:extLst>
          </p:cNvPr>
          <p:cNvSpPr txBox="1"/>
          <p:nvPr/>
        </p:nvSpPr>
        <p:spPr>
          <a:xfrm>
            <a:off x="6578600" y="2590800"/>
            <a:ext cx="1727200" cy="4847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ToolMessage + Command(update) </a:t>
            </a:r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 </a:t>
            </a:r>
            <a:r>
              <a:rPr lang="en-US" altLang="zh-CN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TravelState</a:t>
            </a:r>
            <a:endParaRPr lang="zh-CN" altLang="en-US" sz="1050">
              <a:solidFill>
                <a:srgbClr val="33415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D1521CF-EBA1-357D-8505-1462C42B0A41}"/>
              </a:ext>
            </a:extLst>
          </p:cNvPr>
          <p:cNvSpPr/>
          <p:nvPr/>
        </p:nvSpPr>
        <p:spPr>
          <a:xfrm>
            <a:off x="9194800" y="1905000"/>
            <a:ext cx="2082800" cy="1651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4819F8-62EC-F46B-01B0-AD6DB7DCAE9A}"/>
              </a:ext>
            </a:extLst>
          </p:cNvPr>
          <p:cNvSpPr txBox="1"/>
          <p:nvPr/>
        </p:nvSpPr>
        <p:spPr>
          <a:xfrm>
            <a:off x="9372600" y="2133600"/>
            <a:ext cx="1727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500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Next Call</a:t>
            </a:r>
            <a:endParaRPr lang="zh-CN" altLang="en-US" sz="1500" b="1">
              <a:solidFill>
                <a:srgbClr val="1D4ED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4532F7-10DA-F6A0-5552-6FBB146A689F}"/>
              </a:ext>
            </a:extLst>
          </p:cNvPr>
          <p:cNvSpPr txBox="1"/>
          <p:nvPr/>
        </p:nvSpPr>
        <p:spPr>
          <a:xfrm>
            <a:off x="9372600" y="2590800"/>
            <a:ext cx="1727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5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新状态重新注入；工具白名单随阶段改变</a:t>
            </a: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925014F-E0F6-0D91-A37F-DFF44CDA8692}"/>
              </a:ext>
            </a:extLst>
          </p:cNvPr>
          <p:cNvCxnSpPr/>
          <p:nvPr/>
        </p:nvCxnSpPr>
        <p:spPr>
          <a:xfrm>
            <a:off x="2997200" y="2730500"/>
            <a:ext cx="4826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7F38E8C-6902-29E5-2366-C55F58A2EE11}"/>
              </a:ext>
            </a:extLst>
          </p:cNvPr>
          <p:cNvCxnSpPr/>
          <p:nvPr/>
        </p:nvCxnSpPr>
        <p:spPr>
          <a:xfrm>
            <a:off x="5791200" y="2730500"/>
            <a:ext cx="4826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8F6E7DC-239B-E91F-5A4D-2B9A1AC8B18D}"/>
              </a:ext>
            </a:extLst>
          </p:cNvPr>
          <p:cNvCxnSpPr/>
          <p:nvPr/>
        </p:nvCxnSpPr>
        <p:spPr>
          <a:xfrm>
            <a:off x="8585200" y="2730500"/>
            <a:ext cx="482600" cy="0"/>
          </a:xfrm>
          <a:prstGeom prst="line">
            <a:avLst/>
          </a:prstGeom>
          <a:ln w="254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613426D-A461-2F17-38FF-66CB79F7EA3D}"/>
              </a:ext>
            </a:extLst>
          </p:cNvPr>
          <p:cNvSpPr/>
          <p:nvPr/>
        </p:nvSpPr>
        <p:spPr>
          <a:xfrm>
            <a:off x="1625600" y="4394200"/>
            <a:ext cx="8940800" cy="9652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76B3F7-AF3B-29B8-84F5-1A7D4BDED701}"/>
              </a:ext>
            </a:extLst>
          </p:cNvPr>
          <p:cNvSpPr txBox="1"/>
          <p:nvPr/>
        </p:nvSpPr>
        <p:spPr>
          <a:xfrm>
            <a:off x="2032000" y="4635500"/>
            <a:ext cx="8128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7C2D1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工具调错：不是模型内心纠错，而是结果进入上下文；校验失败、审计、去重和状态门禁共同迫使下一轮修正。</a:t>
            </a:r>
          </a:p>
        </p:txBody>
      </p:sp>
    </p:spTree>
    <p:extLst>
      <p:ext uri="{BB962C8B-B14F-4D97-AF65-F5344CB8AC3E}">
        <p14:creationId xmlns:p14="http://schemas.microsoft.com/office/powerpoint/2010/main" val="3966328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8A8F843-4B3F-26EC-A0F2-6BE12B9AB635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不靠主观聊天观感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D1EB60-2E12-4C36-EA98-A9B85F4F9A88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验收体系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CD99BA-F24E-9573-2B39-D84E4D0A97DA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4DABB5-00CE-2C57-95EB-3E596395CEEF}"/>
              </a:ext>
            </a:extLst>
          </p:cNvPr>
          <p:cNvSpPr/>
          <p:nvPr/>
        </p:nvSpPr>
        <p:spPr>
          <a:xfrm>
            <a:off x="736600" y="1676400"/>
            <a:ext cx="2032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95D084-7FC4-EB7C-768C-3BA39D30A317}"/>
              </a:ext>
            </a:extLst>
          </p:cNvPr>
          <p:cNvSpPr txBox="1"/>
          <p:nvPr/>
        </p:nvSpPr>
        <p:spPr>
          <a:xfrm>
            <a:off x="914400" y="1828800"/>
            <a:ext cx="167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9/9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F40818-D792-966E-3B21-171152334C33}"/>
              </a:ext>
            </a:extLst>
          </p:cNvPr>
          <p:cNvSpPr txBox="1"/>
          <p:nvPr/>
        </p:nvSpPr>
        <p:spPr>
          <a:xfrm>
            <a:off x="889000" y="2336800"/>
            <a:ext cx="172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核心场景 </a:t>
            </a:r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passed</a:t>
            </a:r>
            <a:endParaRPr lang="zh-CN" altLang="en-US" sz="1000">
              <a:solidFill>
                <a:srgbClr val="33415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F765145-44BD-EFE3-43D0-1EC182A5E7D8}"/>
              </a:ext>
            </a:extLst>
          </p:cNvPr>
          <p:cNvSpPr/>
          <p:nvPr/>
        </p:nvSpPr>
        <p:spPr>
          <a:xfrm>
            <a:off x="2921000" y="1676400"/>
            <a:ext cx="2032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5758A1-E086-A88F-95C0-B6B443796BAC}"/>
              </a:ext>
            </a:extLst>
          </p:cNvPr>
          <p:cNvSpPr txBox="1"/>
          <p:nvPr/>
        </p:nvSpPr>
        <p:spPr>
          <a:xfrm>
            <a:off x="3098800" y="1828800"/>
            <a:ext cx="167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99.26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6A83ED-DB78-5756-E725-E5C55541C5EC}"/>
              </a:ext>
            </a:extLst>
          </p:cNvPr>
          <p:cNvSpPr txBox="1"/>
          <p:nvPr/>
        </p:nvSpPr>
        <p:spPr>
          <a:xfrm>
            <a:off x="3073400" y="2336800"/>
            <a:ext cx="172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</a:t>
            </a:r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工业指标均分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6947E7-64CF-03A9-0421-F8B2070E274F}"/>
              </a:ext>
            </a:extLst>
          </p:cNvPr>
          <p:cNvSpPr/>
          <p:nvPr/>
        </p:nvSpPr>
        <p:spPr>
          <a:xfrm>
            <a:off x="5105400" y="1676400"/>
            <a:ext cx="2032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188AFC-3681-C32E-5BD7-22184269F030}"/>
              </a:ext>
            </a:extLst>
          </p:cNvPr>
          <p:cNvSpPr txBox="1"/>
          <p:nvPr/>
        </p:nvSpPr>
        <p:spPr>
          <a:xfrm>
            <a:off x="5283200" y="1828800"/>
            <a:ext cx="167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0.963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EECB1A-8E69-6A22-2598-40EC47ECBDDC}"/>
              </a:ext>
            </a:extLst>
          </p:cNvPr>
          <p:cNvSpPr txBox="1"/>
          <p:nvPr/>
        </p:nvSpPr>
        <p:spPr>
          <a:xfrm>
            <a:off x="5257800" y="2336800"/>
            <a:ext cx="172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工具调用 </a:t>
            </a:r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precision</a:t>
            </a:r>
            <a:endParaRPr lang="zh-CN" altLang="en-US" sz="1000">
              <a:solidFill>
                <a:srgbClr val="33415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A51AEFF7-10F8-8950-5AA6-9C33DE75D713}"/>
              </a:ext>
            </a:extLst>
          </p:cNvPr>
          <p:cNvSpPr/>
          <p:nvPr/>
        </p:nvSpPr>
        <p:spPr>
          <a:xfrm>
            <a:off x="7289800" y="1676400"/>
            <a:ext cx="2032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4C6195-872F-2294-43C5-99C4C388F31E}"/>
              </a:ext>
            </a:extLst>
          </p:cNvPr>
          <p:cNvSpPr txBox="1"/>
          <p:nvPr/>
        </p:nvSpPr>
        <p:spPr>
          <a:xfrm>
            <a:off x="7467600" y="1828800"/>
            <a:ext cx="167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1.0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5BA5AE3-2F7D-5A52-A5CB-73AAC2EDDDF9}"/>
              </a:ext>
            </a:extLst>
          </p:cNvPr>
          <p:cNvSpPr txBox="1"/>
          <p:nvPr/>
        </p:nvSpPr>
        <p:spPr>
          <a:xfrm>
            <a:off x="7442200" y="2336800"/>
            <a:ext cx="172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意图 </a:t>
            </a:r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 </a:t>
            </a:r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recall</a:t>
            </a:r>
            <a:endParaRPr lang="zh-CN" altLang="en-US" sz="1000">
              <a:solidFill>
                <a:srgbClr val="33415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86B44E1-0DAD-C15B-066E-59A78D81A367}"/>
              </a:ext>
            </a:extLst>
          </p:cNvPr>
          <p:cNvSpPr/>
          <p:nvPr/>
        </p:nvSpPr>
        <p:spPr>
          <a:xfrm>
            <a:off x="9474200" y="1676400"/>
            <a:ext cx="2032000" cy="1168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800FF06-3789-D152-9D74-FD8646CFA199}"/>
              </a:ext>
            </a:extLst>
          </p:cNvPr>
          <p:cNvSpPr txBox="1"/>
          <p:nvPr/>
        </p:nvSpPr>
        <p:spPr>
          <a:xfrm>
            <a:off x="9652000" y="1828800"/>
            <a:ext cx="16764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2600" b="1">
                <a:solidFill>
                  <a:srgbClr val="0E74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108</a:t>
            </a:r>
            <a:endParaRPr lang="zh-CN" altLang="en-US" sz="2600" b="1">
              <a:solidFill>
                <a:srgbClr val="0E749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B376714-0725-A608-2DCA-0717628AF7F1}"/>
              </a:ext>
            </a:extLst>
          </p:cNvPr>
          <p:cNvSpPr txBox="1"/>
          <p:nvPr/>
        </p:nvSpPr>
        <p:spPr>
          <a:xfrm>
            <a:off x="9626600" y="2336800"/>
            <a:ext cx="172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失败均进入 </a:t>
            </a:r>
            <a:r>
              <a:rPr lang="en-US" altLang="zh-CN" sz="1000">
                <a:solidFill>
                  <a:srgbClr val="33415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fallback</a:t>
            </a:r>
            <a:endParaRPr lang="zh-CN" altLang="en-US" sz="1000">
              <a:solidFill>
                <a:srgbClr val="33415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B21C8BA-C4A1-5586-927E-5D3F1272CC86}"/>
              </a:ext>
            </a:extLst>
          </p:cNvPr>
          <p:cNvSpPr/>
          <p:nvPr/>
        </p:nvSpPr>
        <p:spPr>
          <a:xfrm>
            <a:off x="965200" y="3657600"/>
            <a:ext cx="10287000" cy="1422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BBEE51F-7DFC-6205-6ADB-FAF5F054CEC8}"/>
              </a:ext>
            </a:extLst>
          </p:cNvPr>
          <p:cNvSpPr txBox="1"/>
          <p:nvPr/>
        </p:nvSpPr>
        <p:spPr>
          <a:xfrm>
            <a:off x="1320800" y="3886200"/>
            <a:ext cx="952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核心场景覆盖：自由规划、省心方案、亲子</a:t>
            </a:r>
            <a:r>
              <a:rPr lang="en-US" altLang="zh-CN" sz="14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老人</a:t>
            </a:r>
            <a:r>
              <a:rPr lang="en-US" altLang="zh-CN" sz="14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情侣、报价解释、天气风险、酒店</a:t>
            </a:r>
            <a:r>
              <a:rPr lang="en-US" altLang="zh-CN" sz="14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b="1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交通工具兜底。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CEE81F6-5766-1135-5E35-F553E56A8483}"/>
              </a:ext>
            </a:extLst>
          </p:cNvPr>
          <p:cNvSpPr txBox="1"/>
          <p:nvPr/>
        </p:nvSpPr>
        <p:spPr>
          <a:xfrm>
            <a:off x="1320800" y="4368800"/>
            <a:ext cx="952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4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门禁维度：结构化报告、预算置信度、风险、待核验项、旅行社业务证据、工具审计、运行预算。</a:t>
            </a:r>
          </a:p>
        </p:txBody>
      </p:sp>
    </p:spTree>
    <p:extLst>
      <p:ext uri="{BB962C8B-B14F-4D97-AF65-F5344CB8AC3E}">
        <p14:creationId xmlns:p14="http://schemas.microsoft.com/office/powerpoint/2010/main" val="179901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794A7E4-D831-21A9-4DEC-91A5E4C2DE8E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 / report_data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前端消费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A3BB659-49BA-BC70-BBE0-DDC021821851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成果展示：结构化报告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5BD4C8-50CF-3715-8727-4B561497EA3F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D5A94CA-A6ED-7D7D-805D-A4149259FD50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600200"/>
            <a:ext cx="6096000" cy="444500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ED67BCE7-E612-1726-84C3-48E63423D82A}"/>
              </a:ext>
            </a:extLst>
          </p:cNvPr>
          <p:cNvSpPr/>
          <p:nvPr/>
        </p:nvSpPr>
        <p:spPr>
          <a:xfrm>
            <a:off x="7747000" y="1803400"/>
            <a:ext cx="3632200" cy="3632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E92A22-D7BE-0F75-10D6-B680BB4F0BD0}"/>
              </a:ext>
            </a:extLst>
          </p:cNvPr>
          <p:cNvSpPr txBox="1"/>
          <p:nvPr/>
        </p:nvSpPr>
        <p:spPr>
          <a:xfrm>
            <a:off x="8077200" y="21082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讲解要点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FB435C-EFD7-8656-49BC-1DE1E0C5B52F}"/>
              </a:ext>
            </a:extLst>
          </p:cNvPr>
          <p:cNvSpPr txBox="1"/>
          <p:nvPr/>
        </p:nvSpPr>
        <p:spPr>
          <a:xfrm>
            <a:off x="8077200" y="2667000"/>
            <a:ext cx="2794000" cy="11310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不是从自然语言硬解析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报告章节由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contracts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固定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预算、风险、待核验可审计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导出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HTML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复用同一结构</a:t>
            </a:r>
          </a:p>
        </p:txBody>
      </p:sp>
    </p:spTree>
    <p:extLst>
      <p:ext uri="{BB962C8B-B14F-4D97-AF65-F5344CB8AC3E}">
        <p14:creationId xmlns:p14="http://schemas.microsoft.com/office/powerpoint/2010/main" val="2025068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EAECDED-F865-02D1-A501-12343442E072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产品闭环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33569A-10F9-6838-9E1F-D91E213E7536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成果展示：可视化旅程与治理台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C3895D-D2BB-D204-4DC1-A1E4ED75690B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7E6762-CEE1-CA45-494E-70C3BFE9C2E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00200"/>
            <a:ext cx="4880658" cy="4191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C3D396C-5775-A1DA-34A4-C666F9A984B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1600200"/>
            <a:ext cx="2770322" cy="4191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0518C96-CA62-0C85-4BBD-6D1FDE63BF79}"/>
              </a:ext>
            </a:extLst>
          </p:cNvPr>
          <p:cNvSpPr txBox="1"/>
          <p:nvPr/>
        </p:nvSpPr>
        <p:spPr>
          <a:xfrm>
            <a:off x="1016000" y="5943600"/>
            <a:ext cx="990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47556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提词：旅程草案不等于最终报告；治理台展示外部服务、工具审计、人工确认和不可承诺项。</a:t>
            </a:r>
          </a:p>
        </p:txBody>
      </p:sp>
    </p:spTree>
    <p:extLst>
      <p:ext uri="{BB962C8B-B14F-4D97-AF65-F5344CB8AC3E}">
        <p14:creationId xmlns:p14="http://schemas.microsoft.com/office/powerpoint/2010/main" val="2806518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DF6E89-A2E5-03E8-86A0-DFA891AF8A37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回答抓手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1A2D62-1E63-0D1A-90AC-A77C7DB3F2AD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面试高概率深挖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8817B1-B48C-D7AB-79E7-60ED2265620C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F11B97E-C3AF-8E22-547C-40C737C4F64B}"/>
              </a:ext>
            </a:extLst>
          </p:cNvPr>
          <p:cNvSpPr/>
          <p:nvPr/>
        </p:nvSpPr>
        <p:spPr>
          <a:xfrm>
            <a:off x="736600" y="1651000"/>
            <a:ext cx="3175000" cy="3632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FFFCA55-E803-E7BF-6F21-0FEE220A7D8E}"/>
              </a:ext>
            </a:extLst>
          </p:cNvPr>
          <p:cNvSpPr txBox="1"/>
          <p:nvPr/>
        </p:nvSpPr>
        <p:spPr>
          <a:xfrm>
            <a:off x="1066800" y="1955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1D4ED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</a:t>
            </a:r>
            <a:endParaRPr lang="zh-CN" altLang="en-US" b="1">
              <a:solidFill>
                <a:srgbClr val="1D4ED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DEA499-E631-7DFD-AACC-43168D27805E}"/>
              </a:ext>
            </a:extLst>
          </p:cNvPr>
          <p:cNvSpPr txBox="1"/>
          <p:nvPr/>
        </p:nvSpPr>
        <p:spPr>
          <a:xfrm>
            <a:off x="1066800" y="2463800"/>
            <a:ext cx="2336800" cy="11310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父子切片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Hybrid + RRF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metadata-aware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小集评估边界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291A959-AFEA-CF2A-668A-9B6ECCFB4CE7}"/>
              </a:ext>
            </a:extLst>
          </p:cNvPr>
          <p:cNvSpPr/>
          <p:nvPr/>
        </p:nvSpPr>
        <p:spPr>
          <a:xfrm>
            <a:off x="4495800" y="1651000"/>
            <a:ext cx="3175000" cy="363220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CFB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45C0F4-EF5C-D339-5A1A-F9A6BE564393}"/>
              </a:ext>
            </a:extLst>
          </p:cNvPr>
          <p:cNvSpPr txBox="1"/>
          <p:nvPr/>
        </p:nvSpPr>
        <p:spPr>
          <a:xfrm>
            <a:off x="4826000" y="1955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 / Workflow</a:t>
            </a:r>
            <a:endParaRPr lang="zh-CN" altLang="en-US" b="1">
              <a:solidFill>
                <a:srgbClr val="0F76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9DD9CA0-E64B-26AF-06E6-E907F7E08732}"/>
              </a:ext>
            </a:extLst>
          </p:cNvPr>
          <p:cNvSpPr txBox="1"/>
          <p:nvPr/>
        </p:nvSpPr>
        <p:spPr>
          <a:xfrm>
            <a:off x="4826000" y="2463800"/>
            <a:ext cx="2336800" cy="13465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外层状态机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阶段工具白名单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Router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纠错靠状态和工具结果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不暴露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Thought</a:t>
            </a:r>
            <a:endParaRPr lang="zh-CN" altLang="en-US" sz="1400">
              <a:solidFill>
                <a:srgbClr val="1E293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96ABD00-2E66-A679-A2A3-B0B09BDEEA9B}"/>
              </a:ext>
            </a:extLst>
          </p:cNvPr>
          <p:cNvSpPr/>
          <p:nvPr/>
        </p:nvSpPr>
        <p:spPr>
          <a:xfrm>
            <a:off x="8255000" y="1651000"/>
            <a:ext cx="3175000" cy="36322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2638DF-C05C-8337-4003-9B9B64049E3F}"/>
              </a:ext>
            </a:extLst>
          </p:cNvPr>
          <p:cNvSpPr txBox="1"/>
          <p:nvPr/>
        </p:nvSpPr>
        <p:spPr>
          <a:xfrm>
            <a:off x="8585200" y="1955800"/>
            <a:ext cx="241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C2410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工程治理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7DA390-C5A5-4682-0BC5-BEF75EED5ADF}"/>
              </a:ext>
            </a:extLst>
          </p:cNvPr>
          <p:cNvSpPr txBox="1"/>
          <p:nvPr/>
        </p:nvSpPr>
        <p:spPr>
          <a:xfrm>
            <a:off x="8585200" y="2463800"/>
            <a:ext cx="2336800" cy="113107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schema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权衡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工具失败兜底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上下文预算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验收门禁</a:t>
            </a:r>
          </a:p>
        </p:txBody>
      </p:sp>
    </p:spTree>
    <p:extLst>
      <p:ext uri="{BB962C8B-B14F-4D97-AF65-F5344CB8AC3E}">
        <p14:creationId xmlns:p14="http://schemas.microsoft.com/office/powerpoint/2010/main" val="3050588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D1C55BC-24C6-4106-A422-13B7A1AAF0B9}"/>
              </a:ext>
            </a:extLst>
          </p:cNvPr>
          <p:cNvSpPr txBox="1"/>
          <p:nvPr/>
        </p:nvSpPr>
        <p:spPr>
          <a:xfrm>
            <a:off x="558800" y="330200"/>
            <a:ext cx="1041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 / </a:t>
            </a:r>
            <a:r>
              <a:rPr lang="zh-CN" altLang="en-US" sz="1000" b="1">
                <a:solidFill>
                  <a:srgbClr val="4F46E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公正讲法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EF753B7-37F9-254F-89D8-2049C7E06A88}"/>
              </a:ext>
            </a:extLst>
          </p:cNvPr>
          <p:cNvSpPr txBox="1"/>
          <p:nvPr/>
        </p:nvSpPr>
        <p:spPr>
          <a:xfrm>
            <a:off x="558800" y="609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诚实边界与下一步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79AC8B0-0A4B-B9D0-D518-1E69B4760B04}"/>
              </a:ext>
            </a:extLst>
          </p:cNvPr>
          <p:cNvSpPr/>
          <p:nvPr/>
        </p:nvSpPr>
        <p:spPr>
          <a:xfrm>
            <a:off x="558800" y="1244600"/>
            <a:ext cx="11074400" cy="17780"/>
          </a:xfrm>
          <a:prstGeom prst="rect">
            <a:avLst/>
          </a:prstGeom>
          <a:solidFill>
            <a:srgbClr val="E2E8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89BD08A-1AD8-8AC3-475C-84D9748403E1}"/>
              </a:ext>
            </a:extLst>
          </p:cNvPr>
          <p:cNvSpPr txBox="1"/>
          <p:nvPr/>
        </p:nvSpPr>
        <p:spPr>
          <a:xfrm>
            <a:off x="1066800" y="1752600"/>
            <a:ext cx="4572000" cy="119263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当前不接真实支付、出票、短信或供应链履约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外部 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API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异常只做待核验，不编造库存</a:t>
            </a: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锁价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RAG </a:t>
            </a: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离线集规模小，不能代表线上全量分布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前端是单页工作台，生产化还需工程化重构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751C10C-6C1A-B920-2FC0-B8245AFEF84B}"/>
              </a:ext>
            </a:extLst>
          </p:cNvPr>
          <p:cNvSpPr/>
          <p:nvPr/>
        </p:nvSpPr>
        <p:spPr>
          <a:xfrm>
            <a:off x="6604000" y="1828800"/>
            <a:ext cx="4064000" cy="2438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466B64-F810-8EA9-920B-3B3328ECD3A3}"/>
              </a:ext>
            </a:extLst>
          </p:cNvPr>
          <p:cNvSpPr txBox="1"/>
          <p:nvPr/>
        </p:nvSpPr>
        <p:spPr>
          <a:xfrm>
            <a:off x="6959600" y="21082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3E05C2-8A4F-50E4-555E-F448AD53D84B}"/>
              </a:ext>
            </a:extLst>
          </p:cNvPr>
          <p:cNvSpPr txBox="1"/>
          <p:nvPr/>
        </p:nvSpPr>
        <p:spPr>
          <a:xfrm>
            <a:off x="6959600" y="2616200"/>
            <a:ext cx="2921000" cy="82586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接真实日志扩评估集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拆分中间件控制面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强化线上观测与 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badcase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BB5660-CAE1-41E5-3E66-6A9E0C630403}"/>
              </a:ext>
            </a:extLst>
          </p:cNvPr>
          <p:cNvSpPr txBox="1"/>
          <p:nvPr/>
        </p:nvSpPr>
        <p:spPr>
          <a:xfrm>
            <a:off x="1092200" y="5461000"/>
            <a:ext cx="990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收束：亮点不是模型会写攻略，而是状态、工具、证据、报告、前端和验收在一条链路里闭环。</a:t>
            </a:r>
          </a:p>
        </p:txBody>
      </p:sp>
    </p:spTree>
    <p:extLst>
      <p:ext uri="{BB962C8B-B14F-4D97-AF65-F5344CB8AC3E}">
        <p14:creationId xmlns:p14="http://schemas.microsoft.com/office/powerpoint/2010/main" val="1256274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1774</Words>
  <Application>Microsoft Office PowerPoint</Application>
  <PresentationFormat>自定义</PresentationFormat>
  <Paragraphs>220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月正 苏</dc:creator>
  <cp:lastModifiedBy>月正 苏</cp:lastModifiedBy>
  <cp:revision>1</cp:revision>
  <dcterms:created xsi:type="dcterms:W3CDTF">2026-05-21T07:53:48Z</dcterms:created>
  <dcterms:modified xsi:type="dcterms:W3CDTF">2026-05-21T07:53:56Z</dcterms:modified>
</cp:coreProperties>
</file>